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92" r:id="rId17"/>
    <p:sldId id="271" r:id="rId18"/>
    <p:sldId id="288" r:id="rId19"/>
    <p:sldId id="287" r:id="rId20"/>
    <p:sldId id="272" r:id="rId21"/>
    <p:sldId id="289" r:id="rId22"/>
    <p:sldId id="290" r:id="rId23"/>
    <p:sldId id="291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6" r:id="rId35"/>
    <p:sldId id="285" r:id="rId36"/>
    <p:sldId id="283" r:id="rId3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2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017520" y="274320"/>
            <a:ext cx="2743200" cy="274320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029200"/>
            <a:ext cx="1645920" cy="164592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4754880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KoreOps</a:t>
            </a:r>
            <a:endParaRPr sz="6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自动化补丁运维平台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Automated Patch Ops Platform</a:t>
            </a:r>
            <a:endParaRPr sz="13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产品介绍  |  2026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0720" y="219456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面向金融行业的</a:t>
            </a:r>
            <a:endParaRPr sz="2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720" y="2743200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漏洞治理与运维</a:t>
            </a:r>
            <a:endParaRPr sz="4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720" y="3657600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一体化解决方案</a:t>
            </a:r>
            <a:endParaRPr sz="4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60720" y="4617720"/>
            <a:ext cx="2743200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84632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银行  ·  证券  ·  保险  ·  基金</a:t>
            </a:r>
            <a:endParaRPr sz="16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0720" y="6126480"/>
            <a:ext cx="594360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KoreOps Finance Industry Edition</a:t>
            </a:r>
            <a:endParaRPr sz="11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  CONTENTS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7280" y="1280160"/>
            <a:ext cx="100584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3120" y="1280160"/>
            <a:ext cx="89611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32588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金融行业漏洞运维挑战</a:t>
            </a:r>
            <a:endParaRPr sz="2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77440" y="17373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Challenges</a:t>
            </a:r>
            <a:endParaRPr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97280" y="2240280"/>
            <a:ext cx="100584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03120" y="2240280"/>
            <a:ext cx="89611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345373"/>
            <a:ext cx="868680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KoreOps 产品总览</a:t>
            </a:r>
            <a:endParaRPr sz="2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77440" y="26974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Overview</a:t>
            </a:r>
            <a:endParaRPr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97280" y="3200400"/>
            <a:ext cx="100584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103120" y="3200400"/>
            <a:ext cx="89611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32461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核心能力详解</a:t>
            </a:r>
            <a:endParaRPr sz="2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77440" y="36576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Capabilities</a:t>
            </a:r>
            <a:endParaRPr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97280" y="4160520"/>
            <a:ext cx="100584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16052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103120" y="4160520"/>
            <a:ext cx="89611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42062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安全合规与风险控制</a:t>
            </a:r>
            <a:endParaRPr sz="2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77440" y="46177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Compliance</a:t>
            </a:r>
            <a:endParaRPr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97280" y="5120640"/>
            <a:ext cx="100584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120640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03120" y="5120640"/>
            <a:ext cx="89611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516636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部署方案与行业价值</a:t>
            </a:r>
            <a:endParaRPr sz="2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77440" y="557784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Deployment &amp; Value</a:t>
            </a:r>
            <a:endParaRPr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"/>
            <a:ext cx="1463040" cy="14630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384048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5486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20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金融行业漏洞运维挑战</a:t>
            </a:r>
            <a:endParaRPr sz="4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4572000"/>
            <a:ext cx="2286000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Vulnerability Management Challenges in Finance</a:t>
            </a:r>
            <a:endParaRPr sz="15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54864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漏洞数量指数级增长 · 合规监管日益严格 · 异构资产难以治理 · 变更窗口极为有限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金融行业漏洞态势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01 · 挑战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漏洞数量爆发式增长，金融机构因数据价值高成为重点攻击目标</a:t>
            </a:r>
            <a:endParaRPr sz="16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65176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91440" cy="15544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65,064</a:t>
            </a:r>
            <a:endParaRPr sz="3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37744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KoreOps 已同步 CVE 条目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83280" y="1554480"/>
            <a:ext cx="265176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554480"/>
            <a:ext cx="91440" cy="155448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69164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E53935"/>
                </a:solidFill>
                <a:latin typeface="微软雅黑" panose="020B0503020204020204" charset="-122"/>
                <a:ea typeface="微软雅黑" panose="020B0503020204020204" charset="-122"/>
              </a:rPr>
              <a:t>3,433</a:t>
            </a:r>
            <a:endParaRPr sz="3200" b="1">
              <a:solidFill>
                <a:srgbClr val="E539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1880" y="24231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严重级别 CVE（需立即响应）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65176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91440" cy="155448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9164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B8C00"/>
                </a:solidFill>
                <a:latin typeface="微软雅黑" panose="020B0503020204020204" charset="-122"/>
                <a:ea typeface="微软雅黑" panose="020B0503020204020204" charset="-122"/>
              </a:rPr>
              <a:t>10,916</a:t>
            </a:r>
            <a:endParaRPr sz="3200" b="1">
              <a:solidFill>
                <a:srgbClr val="FB8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24231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重要级别 CVE（24 小时内）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52560" y="1554480"/>
            <a:ext cx="265176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554480"/>
            <a:ext cx="91440" cy="155448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69164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2,887</a:t>
            </a:r>
            <a:endParaRPr sz="32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81160" y="24231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单集群实际命中漏洞（8 台主机）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35661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金融业正经历的三大压力</a:t>
            </a:r>
            <a:endParaRPr sz="2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4160520"/>
            <a:ext cx="73152" cy="64008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605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攻击面扩张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" y="448056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信创化 + 云化 + 办公终端异构，Linux / Windows / 中间件 / 数据库 多技术栈并存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4937759"/>
            <a:ext cx="73152" cy="64008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937759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数据敏感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" y="5257799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金融数据一旦因漏洞泄露或被勒索，直接影响客户资产与机构信誉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715000"/>
            <a:ext cx="73152" cy="64008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71500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业务容错低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60350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交易系统、核心支付 RTO/RPO 要求苛刻，人工打补丁带来的变更风险不可控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合规监管要求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01 · 挑战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金融行业漏洞与补丁管理，受多层法律法规与监管要求约束</a:t>
            </a:r>
            <a:endParaRPr sz="16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53212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5532120" cy="4572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国家层面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53035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《网络安全法》第二十五条：及时修复安全漏洞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《数据安全法》、《个人信息保护法》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《关键信息基础设施安全保护条例》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59" y="1554480"/>
            <a:ext cx="553212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554480"/>
            <a:ext cx="5532120" cy="4572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15544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等级保护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37959" y="2103120"/>
            <a:ext cx="53035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等保 2.0（GB/T 22239-2019）三级/四级：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  · 及时识别信息系统中可能存在的安全漏洞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  · 在经过充分测试评估后修补漏洞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069080"/>
            <a:ext cx="553212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69080"/>
            <a:ext cx="5532120" cy="4572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金融监管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53035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银保监会《银行业金融机构信息科技外包风险监管办法》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证监会《证券期货业网络和信息安全管理办法》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人民银行 JR/T 0071-2020 金融行业网络安全等级保护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9359" y="4069080"/>
            <a:ext cx="5532120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4069080"/>
            <a:ext cx="5532120" cy="4572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39" y="40690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审计要求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7959" y="4617720"/>
            <a:ext cx="53035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信息科技风险管理指引 / SOX 内控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变更留痕、审批记录、回滚可追溯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漏洞 SLA 考核（严重 24h，重要 7d 等）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传统补丁运维的五大痛点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01 · 挑战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为什么金融机构需要一套自动化补丁运维平台</a:t>
            </a:r>
            <a:endParaRPr sz="16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73152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80160" y="1463040"/>
            <a:ext cx="103327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554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资产底账不清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19202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Linux (麒麟/红帽/CentOS) + Windows + 中间件，版本、IP、负责人常年手工维护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73152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2316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80160" y="2423160"/>
            <a:ext cx="103327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514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漏洞黑盒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63040" y="2880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单机平均 300+ 未修漏洞，严重级别 CVE 往往淹没在海量清单中无人处理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73152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80160" y="3383280"/>
            <a:ext cx="103327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3474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打补丁即踩雷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63040" y="3840480"/>
            <a:ext cx="100584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缺乏预检、无回滚，夜间变更窗口一旦失败直接影响次日交易开市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73152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80160" y="4343400"/>
            <a:ext cx="103327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4434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审批链割裂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63040" y="4800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工单系统 / 堡垒机 / 脚本平台各管一段，审批记录与执行证据难以关联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5303520"/>
            <a:ext cx="731520" cy="8229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0352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280160" y="5303520"/>
            <a:ext cx="10332720" cy="822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5394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合规审计压力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63040" y="5760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监管检查要求出具「谁审批、何时、在哪些机器上打了哪个补丁」的完整证据链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"/>
            <a:ext cx="1463040" cy="14630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384048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5486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20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10515600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KoreOps 产品总览</a:t>
            </a:r>
            <a:endParaRPr sz="4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4572000"/>
            <a:ext cx="2286000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Product Overview</a:t>
            </a:r>
            <a:endParaRPr sz="15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54864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一个平台 · 双栈覆盖 · 闭环管理 · 合规可审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产品定位与价值主张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02 · 总览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1155680" cy="128016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868680"/>
            <a:ext cx="137160" cy="12801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9601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13258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面向金融行业的自动化补丁运维平台——</a:t>
            </a:r>
            <a:endParaRPr sz="2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以 CVE 情报为输入，以自动化作业为引擎，以合规审计为底线，实现从「漏洞发现」到「补丁落地」的全链路闭环。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四大价值主张</a:t>
            </a:r>
            <a:endParaRPr sz="20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2651760" cy="3017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265176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全量可视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2377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资产、漏洞、变更三大视图贯穿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83280" y="3108960"/>
            <a:ext cx="2651760" cy="3017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3108960"/>
            <a:ext cx="2651760" cy="7315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1089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自动闭环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11880" y="4023360"/>
            <a:ext cx="2377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发现—决策—执行—回滚一体化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7920" y="3108960"/>
            <a:ext cx="2651760" cy="3017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108960"/>
            <a:ext cx="2651760" cy="73152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1089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安全可控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237744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审批 + 回滚 + 留痕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052560" y="3108960"/>
            <a:ext cx="2651760" cy="3017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3108960"/>
            <a:ext cx="2651760" cy="7315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1089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信创就绪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81160" y="4023360"/>
            <a:ext cx="2377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原生支持麒麟、统信等国产 OS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八大能力全景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02 · 总览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围绕「资产—漏洞—补丁—流程」四条主线构建完整能力</a:t>
            </a:r>
            <a:endParaRPr sz="16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65176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265176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18288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统一驾驶舱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首页一图看全：作业、巡检、资产、漏洞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83280" y="1554480"/>
            <a:ext cx="265176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554480"/>
            <a:ext cx="265176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18288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51960" y="18288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资产管理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11880" y="246888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纳管 Linux/Windows，SSH/WinRM + Agent 双通道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265176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265176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8288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18288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漏洞情报库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46520" y="246888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6.5 万 + CVE，源自 Red Hat / NVD / 麒麟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052560" y="1554480"/>
            <a:ext cx="265176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1554480"/>
            <a:ext cx="265176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81160" y="18288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8288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921240" y="18288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补丁全流程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81160" y="246888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扫描—安装—回滚，双栈通道与能力校验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069080"/>
            <a:ext cx="265176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069080"/>
            <a:ext cx="265176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43434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系统巡检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7240" y="498348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模板化健康体检，定时执行 + 邮件报表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383280" y="4069080"/>
            <a:ext cx="265176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83280" y="4069080"/>
            <a:ext cx="265176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11880" y="43434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4343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51960" y="43434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流程编排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11880" y="498348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可视化流程设计器，审批作业一体化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17920" y="4069080"/>
            <a:ext cx="265176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069080"/>
            <a:ext cx="265176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46520" y="43434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343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086600" y="43434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AI 智能助手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46520" y="498348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自然语言问答，辅助运维决策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052560" y="4069080"/>
            <a:ext cx="265176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2560" y="4069080"/>
            <a:ext cx="2651760" cy="7315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81160" y="4343400"/>
            <a:ext cx="50292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60" y="4343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921240" y="43434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用户与权限</a:t>
            </a:r>
            <a:endParaRPr sz="16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281160" y="498348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细粒度角色分离，支持多团队协作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480" y="-9144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总体技术架构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02 · 总览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Java 微服务 + Ansible + KoreOps Agent 双执行通道，独立部署可信创适配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990" y="1233170"/>
            <a:ext cx="9596755" cy="49618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最小化部署架构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02 · 总览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两台 Linux 主机 + 脚本化安装，即可支撑初期运行</a:t>
            </a:r>
            <a:endParaRPr sz="16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329184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329184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57388"/>
            <a:ext cx="329184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KoreOps 业务节点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3017520" cy="77914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lang="en-US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KoreOps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-portal 门户网关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lang="en-US"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KoreOps</a:t>
            </a:r>
            <a:r>
              <a:rPr lang="en-US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-s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vs 业务聚合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lang="en-US" sz="12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KoreOps</a:t>
            </a:r>
            <a:r>
              <a:rPr lang="en-US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dts </a:t>
            </a:r>
            <a:r>
              <a:rPr lang="zh-CN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漏洞库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查询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80560" y="1828800"/>
            <a:ext cx="329184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828800"/>
            <a:ext cx="3291840" cy="5029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957388"/>
            <a:ext cx="3291840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an 执行节点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2514600"/>
            <a:ext cx="301752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原生 Ansible
●  Ansible Tower / AAP
●  SSH / WinRM 首装与兼容执行
●  独立部署，不共机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3291840" cy="237744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3291840" cy="50292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82880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被管主机（任意规模）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21040" y="2514600"/>
            <a:ext cx="301752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Linux（SSH / Agent）
●  Windows（WinRM / Agent）
●  本机 / 跳板 Agent 模式
●  Yum / WSUS 内网仓库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0" y="25603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8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0" y="25603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8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1155680" cy="13716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137160" cy="13716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最小资源需求（单节点）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CPU 8 核     内存 16 GB     硬盘 500 GB     操作系统 主流 Linux（麒麟 / 红帽 / CentOS）     安装方式 脚本化一键安装，支持纯内网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"/>
            <a:ext cx="1463040" cy="14630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384048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5486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20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核心能力详解</a:t>
            </a:r>
            <a:endParaRPr sz="4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4572000"/>
            <a:ext cx="2286000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Core Capabilities</a:t>
            </a:r>
            <a:endParaRPr sz="15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54864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驾驶舱 · 资产 · 漏洞 · 补丁 · 回滚 · 巡检 · 流程 · AI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统一运维驾驶舱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首页聚合作业、巡检、资产、漏洞四大视图，一眼掌握全局态势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484632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▍作业概览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REST / 命令 / 脚本 三类作业实时数量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▍巡检概览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本月巡检次数、正常 / 异常统计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▍资产概览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按类型（Linux/Windows）与系统分布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▍漏洞概览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按严重等级分组，支持 Linux/Windows 切换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▍近 10 天趋势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作业执行与巡检结果时间序列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▍OPS 智能助手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自然语言交互的 AI 智能助手入口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95" y="1464310"/>
            <a:ext cx="6438900" cy="4117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资产全生命周期管理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从发现到权限，贯穿资产整个生命周期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484632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▍多种纳管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手动录入、自动发现、vCenter 与 Agent 接入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▍双栈覆盖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Linux / Windows 均支持 Agent，兼容传统通道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▍接入模式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支持本机 Agent 与跳板 Agent 代管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▍状态可视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在线状态、版本、能力与最后在线时间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▍地址校验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CMDB IP 与 Agent 当前 IP 差异提示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▍资源权限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按团队 / 角色分域授权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▍操作日志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资产接入与变更全量留痕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180" y="1454785"/>
            <a:ext cx="6644005" cy="40455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双栈主机 Agent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复杂网络下的可靠执行通道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484632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▍双栈统一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Linux / Windows 使用同一套 Agent 能力模型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▍灵活接入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SSH/WinRM 批量推装，或生成命令自主安装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▍两种模式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本机直接接入，也可由跳板 Agent 代管目标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▍执行能力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扫描、补丁、回滚、命令与文件传输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▍安全前置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离线或缺少目标能力时自动阻止执行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▍状态可视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版本、能力、最后在线与 IP 差异集中呈现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0040" y="1426464"/>
            <a:ext cx="6355080" cy="402336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499616"/>
            <a:ext cx="6025896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微软雅黑" panose="020B0503020204020204" charset="-122"/>
              </a:rPr>
              <a:t>KoreOps Agent 接入工作台</a:t>
            </a:r>
            <a:endParaRPr sz="1300" b="1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" y="1801368"/>
            <a:ext cx="6025896" cy="21945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50" b="0">
                <a:solidFill>
                  <a:srgbClr val="757575"/>
                </a:solidFill>
                <a:latin typeface="微软雅黑" panose="020B0503020204020204" charset="-122"/>
              </a:rPr>
              <a:t>首装可复用现有通道，运行阶段统一纳入 Agent 状态与能力治理</a:t>
            </a:r>
            <a:endParaRPr sz="950" b="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4360" y="2139696"/>
            <a:ext cx="2487168" cy="758952"/>
          </a:xfrm>
          <a:prstGeom prst="roundRect">
            <a:avLst/>
          </a:prstGeom>
          <a:solidFill>
            <a:srgbClr val="E9F3FC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/>
          <a:lstStyle/>
          <a:p>
            <a:pPr algn="ctr"/>
            <a:r>
              <a:rPr sz="1300" b="1">
                <a:solidFill>
                  <a:srgbClr val="1E88E5"/>
                </a:solidFill>
                <a:latin typeface="微软雅黑" panose="020B0503020204020204" charset="-122"/>
              </a:rPr>
              <a:t>批量推装</a:t>
            </a:r>
            <a:endParaRPr sz="1300" b="1">
              <a:solidFill>
                <a:srgbClr val="1E88E5"/>
              </a:solidFill>
              <a:latin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757575"/>
                </a:solidFill>
                <a:latin typeface="微软雅黑" panose="020B0503020204020204" charset="-122"/>
              </a:rPr>
              <a:t>复用 SSH / WinRM 完成首次安装</a:t>
            </a:r>
            <a:endParaRPr sz="95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913632" y="2139696"/>
            <a:ext cx="2487168" cy="758952"/>
          </a:xfrm>
          <a:prstGeom prst="roundRect">
            <a:avLst/>
          </a:prstGeom>
          <a:solidFill>
            <a:srgbClr val="E9F3FC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/>
          <a:lstStyle/>
          <a:p>
            <a:pPr algn="ctr"/>
            <a:r>
              <a:rPr sz="1300" b="1">
                <a:solidFill>
                  <a:srgbClr val="1E88E5"/>
                </a:solidFill>
                <a:latin typeface="微软雅黑" panose="020B0503020204020204" charset="-122"/>
              </a:rPr>
              <a:t>命令安装</a:t>
            </a:r>
            <a:endParaRPr sz="1300" b="1">
              <a:solidFill>
                <a:srgbClr val="1E88E5"/>
              </a:solidFill>
              <a:latin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757575"/>
                </a:solidFill>
                <a:latin typeface="微软雅黑" panose="020B0503020204020204" charset="-122"/>
              </a:rPr>
              <a:t>在目标机执行一次性安装命令</a:t>
            </a:r>
            <a:endParaRPr sz="95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664208" y="3163824"/>
            <a:ext cx="3666744" cy="676656"/>
          </a:xfrm>
          <a:prstGeom prst="roundRect">
            <a:avLst/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KoreOps Agent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837944" y="2898648"/>
            <a:ext cx="742950" cy="265176"/>
          </a:xfrm>
          <a:prstGeom prst="line">
            <a:avLst/>
          </a:prstGeom>
          <a:ln w="1524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414266" y="2898648"/>
            <a:ext cx="742950" cy="265176"/>
          </a:xfrm>
          <a:prstGeom prst="line">
            <a:avLst/>
          </a:prstGeom>
          <a:ln w="1524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33088"/>
            <a:ext cx="2487168" cy="758952"/>
          </a:xfrm>
          <a:prstGeom prst="roundRect">
            <a:avLst/>
          </a:prstGeom>
          <a:solidFill>
            <a:srgbClr val="E8F7F4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/>
          <a:lstStyle/>
          <a:p>
            <a:pPr algn="ctr"/>
            <a:r>
              <a:rPr sz="1300" b="1">
                <a:solidFill>
                  <a:srgbClr val="16A394"/>
                </a:solidFill>
                <a:latin typeface="微软雅黑" panose="020B0503020204020204" charset="-122"/>
              </a:rPr>
              <a:t>本机模式</a:t>
            </a:r>
            <a:endParaRPr sz="1300" b="1">
              <a:solidFill>
                <a:srgbClr val="16A394"/>
              </a:solidFill>
              <a:latin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757575"/>
                </a:solidFill>
                <a:latin typeface="微软雅黑" panose="020B0503020204020204" charset="-122"/>
              </a:rPr>
              <a:t>Linux / Windows 主机直接接入</a:t>
            </a:r>
            <a:endParaRPr sz="95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913632" y="4133088"/>
            <a:ext cx="2487168" cy="758952"/>
          </a:xfrm>
          <a:prstGeom prst="roundRect">
            <a:avLst/>
          </a:prstGeom>
          <a:solidFill>
            <a:srgbClr val="E8F7F4"/>
          </a:solidFill>
          <a:ln w="1016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63500" rIns="114300" bIns="63500" rtlCol="0" anchor="ctr"/>
          <a:lstStyle/>
          <a:p>
            <a:pPr algn="ctr"/>
            <a:r>
              <a:rPr sz="1300" b="1">
                <a:solidFill>
                  <a:srgbClr val="16A394"/>
                </a:solidFill>
                <a:latin typeface="微软雅黑" panose="020B0503020204020204" charset="-122"/>
              </a:rPr>
              <a:t>跳板代管</a:t>
            </a:r>
            <a:endParaRPr sz="1300" b="1">
              <a:solidFill>
                <a:srgbClr val="16A394"/>
              </a:solidFill>
              <a:latin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50">
                <a:solidFill>
                  <a:srgbClr val="757575"/>
                </a:solidFill>
                <a:latin typeface="微软雅黑" panose="020B0503020204020204" charset="-122"/>
              </a:rPr>
              <a:t>一个在线 Agent 代管目标 IP</a:t>
            </a:r>
            <a:endParaRPr sz="95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 flipH="1">
            <a:off x="1837944" y="3840480"/>
            <a:ext cx="742950" cy="292608"/>
          </a:xfrm>
          <a:prstGeom prst="line">
            <a:avLst/>
          </a:prstGeom>
          <a:ln w="1524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14266" y="3840480"/>
            <a:ext cx="742950" cy="292608"/>
          </a:xfrm>
          <a:prstGeom prst="line">
            <a:avLst/>
          </a:prstGeom>
          <a:ln w="15240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1794" y="5029200"/>
            <a:ext cx="1033271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757575"/>
                </a:solidFill>
                <a:latin typeface="微软雅黑" panose="020B0503020204020204" charset="-122"/>
              </a:rPr>
              <a:t>在线状态</a:t>
            </a:r>
            <a:endParaRPr sz="85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801369" y="5029200"/>
            <a:ext cx="1033271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757575"/>
                </a:solidFill>
                <a:latin typeface="微软雅黑" panose="020B0503020204020204" charset="-122"/>
              </a:rPr>
              <a:t>版本</a:t>
            </a:r>
            <a:endParaRPr sz="85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980944" y="5029200"/>
            <a:ext cx="1033271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757575"/>
                </a:solidFill>
                <a:latin typeface="微软雅黑" panose="020B0503020204020204" charset="-122"/>
              </a:rPr>
              <a:t>能力</a:t>
            </a:r>
            <a:endParaRPr sz="85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60519" y="5029200"/>
            <a:ext cx="1033271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757575"/>
                </a:solidFill>
                <a:latin typeface="微软雅黑" panose="020B0503020204020204" charset="-122"/>
              </a:rPr>
              <a:t>最后在线</a:t>
            </a:r>
            <a:endParaRPr sz="85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340094" y="5029200"/>
            <a:ext cx="1033271" cy="3108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757575"/>
                </a:solidFill>
                <a:latin typeface="微软雅黑" panose="020B0503020204020204" charset="-122"/>
              </a:rPr>
              <a:t>IP 差异</a:t>
            </a:r>
            <a:endParaRPr sz="850">
              <a:solidFill>
                <a:srgbClr val="7575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CVE 详情与影响分析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不止列出漏洞，更回答「这个漏洞影响我哪些资产」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484632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▍基础信息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CVE 编号、CVSS 评分、CWE、发布日期、来源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▍影响统计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总计 / 受影响 / 延迟修复 / 已修复 / 不受影响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▍受影响机器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直接关联本机构资产清单，精准到 IP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▍软件包详情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列出受影响的具体软件包版本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▍漏洞描述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原文描述 + 利用场景 + 修复建议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▍一键流转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从详情直达扫描 / 安装 / 回滚动作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" y="1150620"/>
            <a:ext cx="5738495" cy="28911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4561205"/>
            <a:ext cx="8253730" cy="16567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CVE 漏洞情报库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多源聚合 · 严重分级 · 实时检索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484632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▍权威多源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Red Hat / NVD / 麒麟官方同步 CVE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▍规模能力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已同步 6.5 万+ CVE 条目，持续更新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▍四级分级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严重 / 重要 / 中等 / 低危，匹配 SLA 口径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▍多维检索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按 CVE 编号、关键字、软件包、时间范围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▍中间件支持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单独的中间件 CVE 列表，不漏金融常见组件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▍离线部署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情报库支持纯内网更新，符合金融安全策略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90" y="1454785"/>
            <a:ext cx="6711950" cy="42049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376"/>
            <a:ext cx="914400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机器</a:t>
            </a: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详情与</a:t>
            </a:r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受</a:t>
            </a: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影响</a:t>
            </a:r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情况</a:t>
            </a:r>
            <a:endParaRPr lang="zh-CN"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直接列出机器漏洞统计情况，快速评估风险</a:t>
            </a:r>
            <a:endParaRPr lang="zh-CN"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11820" y="1510030"/>
            <a:ext cx="3773805" cy="65595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</a:t>
            </a:r>
            <a:r>
              <a:rPr lang="zh-CN"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影响统计</a:t>
            </a: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原厂漏洞评级</a:t>
            </a:r>
            <a:r>
              <a:rPr 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数量分类展示</a:t>
            </a:r>
            <a:endParaRPr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</a:t>
            </a:r>
            <a:r>
              <a:rPr lang="zh-CN"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重启判断</a:t>
            </a: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快速判断机器是否需要重启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510030"/>
            <a:ext cx="7341870" cy="39916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补丁自动化部署 - 五步向导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从目标主机选择到执行完成，五步向导保障每一步都可控、可回滚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Picture 8" descr="08_patch_install_wiz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6949440" cy="5388531"/>
          </a:xfrm>
          <a:prstGeom prst="rect">
            <a:avLst/>
          </a:prstGeom>
          <a:ln w="9525">
            <a:solidFill>
              <a:srgbClr val="F5F5F5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7498079" y="146304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46304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83879" y="14630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选择目标与通道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83879" y="18288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按分组、IP、标签筛选；校验 Agent 状态与能力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79" y="233172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3317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83879" y="23317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预执行脚本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79" y="269748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变更前自备份（YUM 缓存、关键配置）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98079" y="320040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320040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83879" y="32004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脚本校验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83879" y="35661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补丁包完整性、依赖与空间检查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498079" y="4069079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4069079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83879" y="4069079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重启策略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83879" y="4434839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立即重启 / 延迟 / 不重启 可选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498079" y="493776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493776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83879" y="493776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双通道执行</a:t>
            </a:r>
            <a:endParaRPr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83879" y="53035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SSH/WinRM 或 Agent 执行，实时回传日志与进度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376"/>
            <a:ext cx="914400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流程记录留档</a:t>
            </a:r>
            <a:endParaRPr lang="zh-CN"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向导</a:t>
            </a:r>
            <a:r>
              <a:rPr 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流程记录留档，记录操作的补丁</a:t>
            </a:r>
            <a:r>
              <a:rPr lang="en-US" alt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机器</a:t>
            </a:r>
            <a:r>
              <a:rPr lang="en-US" alt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脚本记录</a:t>
            </a:r>
            <a:r>
              <a:rPr lang="en-US" alt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重启策略</a:t>
            </a:r>
            <a:r>
              <a:rPr lang="en-US" alt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执行过程</a:t>
            </a:r>
            <a:endParaRPr lang="zh-CN" altLang="en-US"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2590" y="2105660"/>
            <a:ext cx="4786630" cy="40417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8265"/>
            <a:ext cx="5987415" cy="40106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2192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376"/>
            <a:ext cx="914400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软件信息查询</a:t>
            </a:r>
            <a:endParaRPr lang="zh-CN"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软件描述，到</a:t>
            </a:r>
            <a:r>
              <a:rPr lang="en-US" alt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changelog</a:t>
            </a:r>
            <a:r>
              <a:rPr lang="zh-CN" altLang="en-US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变更记录，到影响的服务列表，快速掌握软件更新动态</a:t>
            </a:r>
            <a:endParaRPr lang="zh-CN" altLang="en-US"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1"/>
            </p:custDataLst>
          </p:nvPr>
        </p:nvSpPr>
        <p:spPr>
          <a:xfrm>
            <a:off x="7498079" y="146304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7498079" y="146304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8183879" y="1463040"/>
            <a:ext cx="3931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软件包详情</a:t>
            </a:r>
            <a:endParaRPr lang="zh-CN"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8183879" y="1828800"/>
            <a:ext cx="39319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列出软件描述，以及版本信息</a:t>
            </a:r>
            <a:endParaRPr lang="zh-CN"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>
            <p:custDataLst>
              <p:tags r:id="rId5"/>
            </p:custDataLst>
          </p:nvPr>
        </p:nvSpPr>
        <p:spPr>
          <a:xfrm>
            <a:off x="7498079" y="233172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7498079" y="23317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8183879" y="2331720"/>
            <a:ext cx="3931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关联服务信息</a:t>
            </a:r>
            <a:endParaRPr lang="zh-CN"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8183879" y="2697480"/>
            <a:ext cx="39319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列出软件包更新关联的系统服务组件信息</a:t>
            </a:r>
            <a:endParaRPr lang="zh-CN"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9"/>
            </p:custDataLst>
          </p:nvPr>
        </p:nvSpPr>
        <p:spPr>
          <a:xfrm>
            <a:off x="7498079" y="320040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7498079" y="320040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8183879" y="3200400"/>
            <a:ext cx="3931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更新记录</a:t>
            </a:r>
            <a:r>
              <a:rPr lang="en-US" altLang="zh-CN"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-changelog</a:t>
            </a:r>
            <a:endParaRPr lang="en-US" altLang="zh-CN"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8183879" y="3566160"/>
            <a:ext cx="39319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补丁包完整</a:t>
            </a:r>
            <a:r>
              <a:rPr lang="zh-CN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changelog</a:t>
            </a:r>
            <a:r>
              <a:rPr lang="zh-CN" altLang="en-US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记录，一键查询更新信息</a:t>
            </a:r>
            <a:endParaRPr lang="zh-CN" altLang="en-US"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" y="1422400"/>
            <a:ext cx="7040880" cy="44488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376"/>
            <a:ext cx="914400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已安装软件信息查询</a:t>
            </a:r>
            <a:endParaRPr lang="zh-CN"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记录受纳管机器的已安装软件包信息，实现快速查询和导出，并关联软件包详情</a:t>
            </a:r>
            <a:endParaRPr lang="zh-CN"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1"/>
            </p:custDataLst>
          </p:nvPr>
        </p:nvSpPr>
        <p:spPr>
          <a:xfrm>
            <a:off x="7498079" y="146304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7498079" y="146304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8183879" y="1463040"/>
            <a:ext cx="3931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软件包详情</a:t>
            </a:r>
            <a:endParaRPr lang="zh-CN"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8183879" y="1828800"/>
            <a:ext cx="39319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列出已安装软件记录、并关联相关软件包详情</a:t>
            </a:r>
            <a:endParaRPr lang="zh-CN"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>
            <p:custDataLst>
              <p:tags r:id="rId5"/>
            </p:custDataLst>
          </p:nvPr>
        </p:nvSpPr>
        <p:spPr>
          <a:xfrm>
            <a:off x="7498079" y="233172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7498079" y="23317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8183879" y="2331720"/>
            <a:ext cx="3931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关联服务信息</a:t>
            </a:r>
            <a:endParaRPr lang="zh-CN"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8183879" y="2697480"/>
            <a:ext cx="39319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列出软件包更新关联的系统服务组件信息</a:t>
            </a:r>
            <a:endParaRPr lang="zh-CN"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9"/>
            </p:custDataLst>
          </p:nvPr>
        </p:nvSpPr>
        <p:spPr>
          <a:xfrm>
            <a:off x="7498079" y="3200400"/>
            <a:ext cx="548640" cy="7315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7498079" y="320040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8183879" y="3200400"/>
            <a:ext cx="3931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导出功能</a:t>
            </a:r>
            <a:endParaRPr lang="zh-CN" sz="1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8183879" y="3566160"/>
            <a:ext cx="39319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一键导出多台机器的已安装软件包信息</a:t>
            </a:r>
            <a:endParaRPr lang="zh-CN" altLang="en-US"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420" y="1565910"/>
            <a:ext cx="7032625" cy="34404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变更回滚 —— 金融运维的安全底线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打得进去，也要退得出来。按 CVE / 软件包 粒度逐个回滚。</a:t>
            </a:r>
            <a:endParaRPr sz="16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532120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137160" cy="210312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CVE / PKG 双粒度</a:t>
            </a:r>
            <a:endParaRPr sz="18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既可按漏洞维度回滚，也可按软件包维度回滚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59" y="1554480"/>
            <a:ext cx="5532120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554480"/>
            <a:ext cx="137160" cy="21031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变更全量留痕</a:t>
            </a:r>
            <a:endParaRPr sz="1800" b="1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9399" y="233172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哪台机器、哪个补丁、谁执行、何时回滚 全部入库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532120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137160" cy="210312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B8C00"/>
                </a:solidFill>
                <a:latin typeface="微软雅黑" panose="020B0503020204020204" charset="-122"/>
                <a:ea typeface="微软雅黑" panose="020B0503020204020204" charset="-122"/>
              </a:rPr>
              <a:t>批量回滚</a:t>
            </a:r>
            <a:endParaRPr sz="1800" b="1">
              <a:solidFill>
                <a:srgbClr val="FB8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同一次变更命中多台时，可按原作业批量回退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9359" y="3840480"/>
            <a:ext cx="5532120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840480"/>
            <a:ext cx="137160" cy="21031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399" y="40233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窗口友好</a:t>
            </a:r>
            <a:endParaRPr sz="18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9399" y="4617720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回滚脚本受控执行，支持时间窗 + 并发限制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6126480"/>
            <a:ext cx="11155680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264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金融客户关注点：RTO 分钟级 · 回滚成功率 ≥ 99% · 自动生成审计证据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Windows 补丁管理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统一界面管理 Windows 补丁，WSUS 补丁源与 KoreOps Agent 协同闭环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484632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▍主机概览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统一展示 Windows 版本、架构与漏洞分布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▍双通道接入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支持 WinRM 批量推装或命令安装 Agent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▍WSUS 配置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内网补丁源对接，适配离线与受限网络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▍Agent 执行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覆盖扫描、安装、回滚与执行结果回传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▍状态可视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在线状态、版本、能力、地址差异集中展示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</a:rPr>
              <a:t>▍双栈一体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</a:rPr>
              <a:t>与 Linux 共用审批流、权限与审计</a:t>
            </a:r>
            <a:endParaRPr sz="1400" b="0">
              <a:solidFill>
                <a:srgbClr val="212121"/>
              </a:solidFill>
              <a:latin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0" y="1454150"/>
            <a:ext cx="6402070" cy="24752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系统巡检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模板化体检 </a:t>
            </a:r>
            <a:r>
              <a:rPr lang="en-US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altLang="en-US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定制化检查项</a:t>
            </a:r>
            <a:r>
              <a:rPr lang="en-US" altLang="zh-CN"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+ 定时调度 + 邮件报送，日常健康度可见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484632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▍模板化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内置 RHEL / Linux 健康体检 / 自定义模板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▍覆盖维度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CPU、内存、磁盘、进程、服务、端口、日志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▍定时执行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按天 / 周 / 月 巡检，支持节假日策略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▍执行记录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历次巡检结果可查，差异对比直观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▍邮件报送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异常项自动发送到运维 / 合规邮箱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▍导出配置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结果可导出 PDF / Excel 供审计归档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890" y="3814445"/>
            <a:ext cx="9119870" cy="27190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0" y="1237615"/>
            <a:ext cx="5742305" cy="24885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自动化与流程编排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三类作业 + 流程设计器 + 审批，把「执行」与「决策」分离</a:t>
            </a:r>
            <a:endParaRPr sz="14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1463040"/>
            <a:ext cx="484632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▍三类作业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脚本作业（1010） · 命令作业（14） · REST 作业（320）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▍分域组织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按应用分类：sudo 权限、资产、补丁、软件、用户 …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▍定时任务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支持 cron / 一次性 / 事件触发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▍流程设计器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可视化编排：审批节点 + 作业节点 + 条件分支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▍历史版本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流程支持版本化管理，变更可追溯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▍对接现有   </a:t>
            </a:r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可被 ITSM / 工单系统通过 REST 触发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925" y="1457960"/>
            <a:ext cx="6408420" cy="42240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智能助手 与 用户协同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03 · 能力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AI 降低使用门槛，细粒度权限确保职责分离</a:t>
            </a:r>
            <a:endParaRPr sz="16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5486400" cy="484632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OPS 智能助手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4937760" cy="3931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800"/>
              </a:spcAft>
            </a:pPr>
            <a:r>
              <a:rPr sz="13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▍自然语言交互 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直接问：我有哪些严重漏洞没修？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▍结果直达 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回答中带可操作链接，一键跳转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▍运维助手 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生成巡检脚本 / 解读 CVE 影响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▍安全合规 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所有交互记录可审计，敏感字段脱敏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▍可私有化 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支持对接企业内网部署的大模型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50292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角色示例：系统管理员 / 内审人员 / 流程审批 / 开发 / 普通用户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5440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细粒度权限：资产域 · 补丁域 · 流程域 相互隔离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5852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支持本地认证、LDAP / AD、OIDC 对接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5474335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"/>
            <a:ext cx="1463040" cy="14630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384048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5486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20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安全合规与风险控制</a:t>
            </a:r>
            <a:endParaRPr sz="4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4572000"/>
            <a:ext cx="2286000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Security, Compliance &amp; Risk Control</a:t>
            </a:r>
            <a:endParaRPr sz="15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54864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审批 · 留痕 · 回滚 · 隔离 —— 金融级运维的四重保障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金融级合规保障四重机制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04 · 合规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29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从身份认证到变更留痕，每一步都对得上监管检查清单</a:t>
            </a:r>
            <a:endParaRPr sz="16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55321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5532120" cy="4572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身份与权限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057400"/>
            <a:ext cx="51206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本地 / LDAP / AD / OIDC 多种认证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角色与资源双维度权限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职责分离：申请、审批、执行隔离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用户状态可即时禁用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59" y="1508760"/>
            <a:ext cx="55321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508760"/>
            <a:ext cx="5532120" cy="4572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39" y="15087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流程审批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79" y="2057400"/>
            <a:ext cx="51206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变更必须走流程节点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审批节点支持串签 / 会签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流程历史版本与执行记录完整留痕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与企业 ITSM 可联动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977639"/>
            <a:ext cx="55321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77639"/>
            <a:ext cx="5532120" cy="45720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变更留痕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79"/>
            <a:ext cx="51206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B8C00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谁 / 何时 / 在哪台机器 / 执行了什么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8C00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变更日志查询 + 流程操作记录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8C00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操作证据可导出用于审计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8C00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时间戳不可篡改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09359" y="3977639"/>
            <a:ext cx="5532120" cy="228600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977639"/>
            <a:ext cx="5532120" cy="45720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39" y="3977639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可回滚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79" y="4526279"/>
            <a:ext cx="51206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E5393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CVE / 软件包 双粒度回滚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E5393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批量回滚支持原批次还原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E5393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回滚过程同样产生审计证据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E5393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支持故障演练与应急</a:t>
            </a:r>
            <a:endParaRPr sz="12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"/>
            <a:ext cx="1463040" cy="14630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384048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5486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20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部署方案与行业价值</a:t>
            </a:r>
            <a:endParaRPr sz="4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4572000"/>
            <a:ext cx="2286000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Deployment &amp; Industry Value</a:t>
            </a:r>
            <a:endParaRPr sz="15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54864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金融机构典型落地场景与长期收益</a:t>
            </a:r>
            <a:endParaRPr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4864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金融行业典型应用场景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731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E3F2FD"/>
                </a:solidFill>
                <a:latin typeface="微软雅黑" panose="020B0503020204020204" charset="-122"/>
                <a:ea typeface="微软雅黑" panose="020B0503020204020204" charset="-122"/>
              </a:rPr>
              <a:t>05 · 价值</a:t>
            </a:r>
            <a:endParaRPr sz="1200" b="0">
              <a:solidFill>
                <a:srgbClr val="E3F2F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三类典型场景，覆盖银行核心、证券交易、保险基金中台</a:t>
            </a:r>
            <a:endParaRPr sz="16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657600" cy="484632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银行 核心与渠道系统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291840" cy="130746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数千台 Linux + Windows 混合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月度补丁窗口窗口极短，要求高并发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与行内 ITSM / 堡垒机对接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合规</a:t>
            </a:r>
            <a:r>
              <a:rPr lang="zh-CN"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审计</a:t>
            </a:r>
            <a:r>
              <a:rPr lang="en-US" altLang="zh-CN"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系统巡检</a:t>
            </a:r>
            <a:endParaRPr lang="zh-CN" altLang="en-US"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657600" cy="484632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657600" cy="64008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5544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证券 交易与清算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2423160"/>
            <a:ext cx="3291840" cy="130746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核心交易日 T+0 变更窗口严苛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重点看重回滚能力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与证监会安全要求对齐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信创麒麟适配需求强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657600" cy="4846320"/>
          </a:xfrm>
          <a:prstGeom prst="rect">
            <a:avLst/>
          </a:prstGeom>
          <a:solidFill>
            <a:srgbClr val="F5F5F5"/>
          </a:solidFill>
          <a:ln w="9525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3657600" cy="6400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5544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 / 基金 中台与办公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60" y="2423160"/>
            <a:ext cx="329184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42A5F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资产规模千台级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42A5F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办公终端、开发测试、生产混合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42A5F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中间件 CVE 特别关注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42A5F5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长期做到常态化补丁治理</a:t>
            </a:r>
            <a:endParaRPr sz="13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KoreOps 为金融机构带来</a:t>
            </a:r>
            <a:endParaRPr sz="18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从「被动救火」到「主动治理」的运维升级</a:t>
            </a:r>
            <a:endParaRPr sz="3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94960" y="2331720"/>
            <a:ext cx="146304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26517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3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265176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效率提升</a:t>
            </a:r>
            <a:endParaRPr sz="18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补丁批量自动化</a:t>
            </a:r>
            <a:endParaRPr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单次窗口处理主机
提升 10×+</a:t>
            </a:r>
            <a:endParaRPr sz="1400" b="1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83280" y="3017520"/>
            <a:ext cx="26517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3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3017520"/>
            <a:ext cx="2651760" cy="10972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3375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风险可控</a:t>
            </a:r>
            <a:endParaRPr sz="1800" b="1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3840480"/>
            <a:ext cx="237744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审批 + 回滚</a:t>
            </a:r>
            <a:endParaRPr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443484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变更失败率
下降到 1% 以内</a:t>
            </a:r>
            <a:endParaRPr sz="1400" b="1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26517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3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2651760" cy="109728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375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B8C00"/>
                </a:solidFill>
                <a:latin typeface="微软雅黑" panose="020B0503020204020204" charset="-122"/>
                <a:ea typeface="微软雅黑" panose="020B0503020204020204" charset="-122"/>
              </a:rPr>
              <a:t>合规达标</a:t>
            </a:r>
            <a:endParaRPr sz="1800" b="1">
              <a:solidFill>
                <a:srgbClr val="FB8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全量留痕审计</a:t>
            </a:r>
            <a:endParaRPr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等保 / 监管检查
一键出具证据</a:t>
            </a:r>
            <a:endParaRPr sz="1400" b="1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52560" y="3017520"/>
            <a:ext cx="26517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3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3017520"/>
            <a:ext cx="2651760" cy="10972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3375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成本下降</a:t>
            </a:r>
            <a:endParaRPr sz="18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35440" y="3840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统一平台管双栈</a:t>
            </a:r>
            <a:endParaRPr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35440" y="443484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工单 / 脚本维护成本
节省 40%+</a:t>
            </a:r>
            <a:endParaRPr sz="1400" b="1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让补丁运维 · 回归可控</a:t>
            </a:r>
            <a:endParaRPr sz="20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48640"/>
            <a:ext cx="1463040" cy="14630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384048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5486400" cy="1846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20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10515600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4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altLang="zh-CN" sz="4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KoreOps</a:t>
            </a:r>
            <a:r>
              <a:rPr lang="zh-CN" altLang="en-US" sz="4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产品的前后</a:t>
            </a:r>
            <a:r>
              <a:rPr lang="zh-CN" altLang="en-US" sz="4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对比</a:t>
            </a:r>
            <a:endParaRPr lang="zh-CN" altLang="en-US" sz="4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4572000"/>
            <a:ext cx="2286000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754880"/>
            <a:ext cx="1051560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Deployment</a:t>
            </a:r>
            <a:r>
              <a:rPr lang="en-US" sz="15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 Vlune </a:t>
            </a:r>
            <a:r>
              <a:rPr lang="en-US" sz="15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compare</a:t>
            </a:r>
            <a:endParaRPr lang="en-US" sz="15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5486400"/>
            <a:ext cx="105156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金融机构典型落地场景收益</a:t>
            </a:r>
            <a:r>
              <a:rPr lang="zh-CN"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前后</a:t>
            </a:r>
            <a:r>
              <a:rPr lang="zh-CN" sz="1400" b="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对比</a:t>
            </a:r>
            <a:endParaRPr lang="zh-CN" sz="1400" b="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33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KoreOps 为金融机构带来</a:t>
            </a:r>
            <a:endParaRPr sz="18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3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实际收益前后</a:t>
            </a:r>
            <a:r>
              <a:rPr lang="zh-CN" sz="32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对比</a:t>
            </a:r>
            <a:endParaRPr lang="zh-CN" sz="32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94960" y="2331720"/>
            <a:ext cx="146304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548640" y="3017520"/>
            <a:ext cx="26517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3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548640" y="3017520"/>
            <a:ext cx="265176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731520" y="4435475"/>
            <a:ext cx="2377440" cy="5880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zh-CN" altLang="en-US" sz="1400" b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漏扫报告不准确，漏洞评级跟厂家不同步、修复版本跟厂家不匹配</a:t>
            </a:r>
            <a:endParaRPr sz="1400" b="1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4"/>
            </p:custDataLst>
          </p:nvPr>
        </p:nvSpPr>
        <p:spPr>
          <a:xfrm>
            <a:off x="3383280" y="3017520"/>
            <a:ext cx="26517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3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5"/>
            </p:custDataLst>
          </p:nvPr>
        </p:nvSpPr>
        <p:spPr>
          <a:xfrm>
            <a:off x="3383280" y="3017520"/>
            <a:ext cx="2651760" cy="10972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3566160" y="3337560"/>
            <a:ext cx="237744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自动</a:t>
            </a:r>
            <a:r>
              <a:rPr lang="zh-CN" sz="18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可靠</a:t>
            </a:r>
            <a:endParaRPr lang="zh-CN" sz="1800" b="1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3566160" y="3840480"/>
            <a:ext cx="237744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留痕</a:t>
            </a:r>
            <a:r>
              <a:rPr lang="en-US" altLang="zh-CN"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存档</a:t>
            </a:r>
            <a:r>
              <a:rPr lang="en-US" altLang="zh-CN"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可</a:t>
            </a:r>
            <a:r>
              <a:rPr lang="zh-CN" altLang="en-US" sz="12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溯源</a:t>
            </a:r>
            <a:endParaRPr lang="zh-CN" altLang="en-US" sz="12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566160" y="4434840"/>
            <a:ext cx="2377440" cy="861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缺乏自动修复工具，依赖于手动更新，或者脚本开发（效率低，容易出错），执行过程缺乏记录和留档审计</a:t>
            </a:r>
            <a:endParaRPr lang="zh-CN" altLang="en-US" sz="1400" b="1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9"/>
            </p:custDataLst>
          </p:nvPr>
        </p:nvSpPr>
        <p:spPr>
          <a:xfrm>
            <a:off x="6217920" y="3017520"/>
            <a:ext cx="26517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3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6217920" y="3017520"/>
            <a:ext cx="2651760" cy="109728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6400800" y="3337560"/>
            <a:ext cx="237744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FB8C00"/>
                </a:solidFill>
                <a:latin typeface="微软雅黑" panose="020B0503020204020204" charset="-122"/>
                <a:ea typeface="微软雅黑" panose="020B0503020204020204" charset="-122"/>
              </a:rPr>
              <a:t>影响可</a:t>
            </a:r>
            <a:r>
              <a:rPr lang="zh-CN" sz="1800" b="1">
                <a:solidFill>
                  <a:srgbClr val="FB8C00"/>
                </a:solidFill>
                <a:latin typeface="微软雅黑" panose="020B0503020204020204" charset="-122"/>
                <a:ea typeface="微软雅黑" panose="020B0503020204020204" charset="-122"/>
              </a:rPr>
              <a:t>预知</a:t>
            </a:r>
            <a:endParaRPr lang="zh-CN" sz="1800" b="1">
              <a:solidFill>
                <a:srgbClr val="FB8C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6400800" y="4434840"/>
            <a:ext cx="237744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无法准确判断补丁包影响范围，需要人工进行分析，效率低。</a:t>
            </a:r>
            <a:endParaRPr lang="zh-CN" altLang="en-US" sz="1400" b="1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3"/>
            </p:custDataLst>
          </p:nvPr>
        </p:nvSpPr>
        <p:spPr>
          <a:xfrm>
            <a:off x="9052560" y="3017520"/>
            <a:ext cx="2651760" cy="2743200"/>
          </a:xfrm>
          <a:prstGeom prst="rect">
            <a:avLst/>
          </a:prstGeom>
          <a:solidFill>
            <a:srgbClr val="F5F5F5"/>
          </a:solidFill>
          <a:ln w="9525">
            <a:solidFill>
              <a:srgbClr val="E3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>
            <p:custDataLst>
              <p:tags r:id="rId14"/>
            </p:custDataLst>
          </p:nvPr>
        </p:nvSpPr>
        <p:spPr>
          <a:xfrm>
            <a:off x="9052560" y="3017520"/>
            <a:ext cx="2651760" cy="109728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9235440" y="3337560"/>
            <a:ext cx="237744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依赖包可</a:t>
            </a:r>
            <a:r>
              <a:rPr lang="zh-CN" sz="18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endParaRPr lang="zh-CN" sz="18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6"/>
            </p:custDataLst>
          </p:nvPr>
        </p:nvSpPr>
        <p:spPr>
          <a:xfrm>
            <a:off x="9235440" y="4434840"/>
            <a:ext cx="237744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altLang="en-US" sz="1400" b="1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</a:rPr>
              <a:t>无法提前判断补丁库依赖包，需要人工验证，效率低。</a:t>
            </a:r>
            <a:endParaRPr lang="zh-CN" altLang="en-US" sz="1400" b="1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115568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补丁运维</a:t>
            </a:r>
            <a:r>
              <a:rPr lang="zh-CN" sz="20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增益</a:t>
            </a:r>
            <a:endParaRPr lang="zh-CN" sz="20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300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34</a:t>
            </a:r>
            <a:endParaRPr sz="10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13"/>
          <p:cNvSpPr txBox="1"/>
          <p:nvPr>
            <p:custDataLst>
              <p:tags r:id="rId17"/>
            </p:custDataLst>
          </p:nvPr>
        </p:nvSpPr>
        <p:spPr>
          <a:xfrm>
            <a:off x="685800" y="3337560"/>
            <a:ext cx="2377440" cy="299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zh-CN" sz="18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同步</a:t>
            </a:r>
            <a:r>
              <a:rPr lang="zh-CN" sz="1800" b="1">
                <a:solidFill>
                  <a:srgbClr val="43A047"/>
                </a:solidFill>
                <a:latin typeface="微软雅黑" panose="020B0503020204020204" charset="-122"/>
                <a:ea typeface="微软雅黑" panose="020B0503020204020204" charset="-122"/>
              </a:rPr>
              <a:t>准确</a:t>
            </a:r>
            <a:endParaRPr lang="zh-CN" sz="1800" b="1">
              <a:solidFill>
                <a:srgbClr val="43A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754880"/>
            <a:ext cx="2286000" cy="228600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731520"/>
            <a:ext cx="1828800" cy="182880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155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0" b="1">
                <a:solidFill>
                  <a:srgbClr val="0D47A1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sz="8400" b="1">
              <a:solidFill>
                <a:srgbClr val="0D47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32704" y="3657600"/>
            <a:ext cx="914400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1E88E5"/>
                </a:solidFill>
                <a:latin typeface="微软雅黑" panose="020B0503020204020204" charset="-122"/>
                <a:ea typeface="微软雅黑" panose="020B0503020204020204" charset="-122"/>
              </a:rPr>
              <a:t>KoreOps · 自动化补丁运维平台</a:t>
            </a:r>
            <a:endParaRPr sz="2200" b="1">
              <a:solidFill>
                <a:srgbClr val="1E88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757575"/>
                </a:solidFill>
                <a:latin typeface="微软雅黑" panose="020B0503020204020204" charset="-122"/>
                <a:ea typeface="微软雅黑" panose="020B0503020204020204" charset="-122"/>
              </a:rPr>
              <a:t>Q  &amp;  A</a:t>
            </a:r>
            <a:endParaRPr sz="1800" b="0">
              <a:solidFill>
                <a:srgbClr val="757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2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3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4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5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6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7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8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9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10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11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12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13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14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15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16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17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18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19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20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21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22.xml><?xml version="1.0" encoding="utf-8"?>
<p:tagLst xmlns:p="http://schemas.openxmlformats.org/presentationml/2006/main">
  <p:tag name="KSO_WM_DIAGRAM_VIRTUALLY_FRAME" val="{&quot;height&quot;:331.2,&quot;left&quot;:590.3999212598426,&quot;top&quot;:115.2,&quot;width&quot;:363.5999999999999}"/>
</p:tagLst>
</file>

<file path=ppt/tags/tag23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24.xml><?xml version="1.0" encoding="utf-8"?>
<p:tagLst xmlns:p="http://schemas.openxmlformats.org/presentationml/2006/main">
  <p:tag name="KSO_WM_DIAGRAM_VIRTUALLY_FRAME" val="{&quot;height&quot;:235.9,&quot;left&quot;:590.3999212598426,&quot;top&quot;:115.2,&quot;width&quot;:363.5999999999998}"/>
</p:tagLst>
</file>

<file path=ppt/tags/tag25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26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27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28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29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0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1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2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3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4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5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6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7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8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39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40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ags/tag41.xml><?xml version="1.0" encoding="utf-8"?>
<p:tagLst xmlns:p="http://schemas.openxmlformats.org/presentationml/2006/main">
  <p:tag name="KSO_WM_DIAGRAM_VIRTUALLY_FRAME" val="{&quot;height&quot;:216,&quot;left&quot;:43.2,&quot;top&quot;:237.6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6439</Words>
  <Application>WPS 演示</Application>
  <PresentationFormat>On-screen Show (4:3)</PresentationFormat>
  <Paragraphs>785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Torch</cp:lastModifiedBy>
  <cp:revision>13</cp:revision>
  <dcterms:created xsi:type="dcterms:W3CDTF">2026-06-22T04:22:00Z</dcterms:created>
  <dcterms:modified xsi:type="dcterms:W3CDTF">2026-09-11T02:42:48Z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E257718896394FBEBC5C90EE50B8F69F_13</vt:lpwstr>
  </property>
  <property fmtid="{D5CDD505-2E9C-101B-9397-08002B2CF9AE}" pid="3" name="KSOProductBuildVer">
    <vt:lpwstr>2052-12.1.0.28043</vt:lpwstr>
  </property>
</Properties>
</file>